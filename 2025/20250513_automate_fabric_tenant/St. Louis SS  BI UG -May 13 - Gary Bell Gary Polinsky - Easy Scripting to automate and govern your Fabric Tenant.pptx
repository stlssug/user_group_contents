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70" r:id="rId5"/>
    <p:sldId id="288" r:id="rId6"/>
    <p:sldId id="286"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194922-555A-45F2-9F76-0E29B0D49973}" v="2" dt="2025-05-13T14:19:49.5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660"/>
  </p:normalViewPr>
  <p:slideViewPr>
    <p:cSldViewPr snapToGrid="0">
      <p:cViewPr varScale="1">
        <p:scale>
          <a:sx n="112" d="100"/>
          <a:sy n="112" d="100"/>
        </p:scale>
        <p:origin x="546" y="114"/>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144"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03921-2861-48E9-ACE6-3C363678A6F9}" type="datetimeFigureOut">
              <a:rPr lang="en-US" smtClean="0"/>
              <a:t>05/13/2025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155BC1-815C-41D7-B09D-68889E8A9161}" type="slidenum">
              <a:rPr lang="en-US" smtClean="0"/>
              <a:t>‹#›</a:t>
            </a:fld>
            <a:endParaRPr lang="en-US"/>
          </a:p>
        </p:txBody>
      </p:sp>
    </p:spTree>
    <p:extLst>
      <p:ext uri="{BB962C8B-B14F-4D97-AF65-F5344CB8AC3E}">
        <p14:creationId xmlns:p14="http://schemas.microsoft.com/office/powerpoint/2010/main" val="2647235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this slide with new events from https://datasaturdays.com/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7D73BA-153F-4782-AE6C-F24E6F92C92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4655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9FD80-FF0D-5479-D2D5-B18AACFB9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838276-765F-8BD0-0C77-D8E8F0941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EE7156-1DF3-D3D7-F00C-8435EBA293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787728-EB4F-D1BA-D1B5-99E8349957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155BC1-815C-41D7-B09D-68889E8A916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38809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5C7DF-FD40-6109-997D-AC51611DC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35402-5C53-4A6D-FD3A-8953BD875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9B06F-A5CB-BEC9-2A87-B99DCBB154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467721-2B4F-F06E-1F53-6B5B2CF52E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155BC1-815C-41D7-B09D-68889E8A916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00125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155BC1-815C-41D7-B09D-68889E8A9161}" type="slidenum">
              <a:rPr lang="en-US" smtClean="0"/>
              <a:t>4</a:t>
            </a:fld>
            <a:endParaRPr lang="en-US"/>
          </a:p>
        </p:txBody>
      </p:sp>
    </p:spTree>
    <p:extLst>
      <p:ext uri="{BB962C8B-B14F-4D97-AF65-F5344CB8AC3E}">
        <p14:creationId xmlns:p14="http://schemas.microsoft.com/office/powerpoint/2010/main" val="248399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36EFD-C44E-49FB-A03C-11AE7AB418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9825EB-FA33-467E-A234-9C50859F42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0E5C6B-7DDE-4AE5-8FCD-2DC0CA7DF8FB}"/>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5" name="Footer Placeholder 4">
            <a:extLst>
              <a:ext uri="{FF2B5EF4-FFF2-40B4-BE49-F238E27FC236}">
                <a16:creationId xmlns:a16="http://schemas.microsoft.com/office/drawing/2014/main" id="{723B946F-E7A2-47B1-A916-D65DE76415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A29F37-ADE3-487F-89C0-1BDC1F99851B}"/>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743940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8D997-0B8A-4FCA-80D5-FCEB55DF77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45D644-207A-4433-A216-921056032B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C1FF-9064-4F26-A57A-9D781FB95141}"/>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5" name="Footer Placeholder 4">
            <a:extLst>
              <a:ext uri="{FF2B5EF4-FFF2-40B4-BE49-F238E27FC236}">
                <a16:creationId xmlns:a16="http://schemas.microsoft.com/office/drawing/2014/main" id="{48BE9451-17D0-4716-B801-CAEEC1FE19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A29EB-0B26-41BC-9D8E-53571F693B6C}"/>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2629011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8962-5E63-4C7B-8C78-F849ADFF9E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F70885-DB16-4D2E-B778-6068C525D3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279AA7-DB79-4DFA-8474-B0C620E17FE0}"/>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5" name="Footer Placeholder 4">
            <a:extLst>
              <a:ext uri="{FF2B5EF4-FFF2-40B4-BE49-F238E27FC236}">
                <a16:creationId xmlns:a16="http://schemas.microsoft.com/office/drawing/2014/main" id="{E876C117-2932-4552-A837-236C838020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1A3D21-316C-4808-A46A-1629B46C40FE}"/>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3239567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E9315-FAC4-4332-85D7-F2EB028FF8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6708E4-8F95-4D33-9CA2-49CE10C5F5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3B6CC2-6A67-4439-A3CC-D2663A0A16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DE1F8A-EB04-4509-A270-2941C5261D15}"/>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6" name="Footer Placeholder 5">
            <a:extLst>
              <a:ext uri="{FF2B5EF4-FFF2-40B4-BE49-F238E27FC236}">
                <a16:creationId xmlns:a16="http://schemas.microsoft.com/office/drawing/2014/main" id="{F8D8801B-7E04-4217-8594-D6BB707A2D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9DB5E0-7D02-4312-AAA6-228D8368BEFF}"/>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2537837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089DA-8DCE-4F49-88BD-63C532E4E1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13E91D-BAFE-453A-BDA1-47EF39A513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E39980-F1F2-4115-8F1F-F6B90215AB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4537B8-21BD-42B8-93B3-9CDE2715E2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74695A-19AF-48DF-B4AE-E510809256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AB8CC4-16BC-43D7-A93D-CEACF92DBCB1}"/>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8" name="Footer Placeholder 7">
            <a:extLst>
              <a:ext uri="{FF2B5EF4-FFF2-40B4-BE49-F238E27FC236}">
                <a16:creationId xmlns:a16="http://schemas.microsoft.com/office/drawing/2014/main" id="{24F4F83C-1DE5-4C95-B47E-C1F76C78E5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0D5C24-36D9-4134-8C88-E3D4EE005694}"/>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2336974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9AB99-2E23-4F06-8233-60A6FB8F9E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9546A8-FF77-4943-981E-7B3636AAE918}"/>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4" name="Footer Placeholder 3">
            <a:extLst>
              <a:ext uri="{FF2B5EF4-FFF2-40B4-BE49-F238E27FC236}">
                <a16:creationId xmlns:a16="http://schemas.microsoft.com/office/drawing/2014/main" id="{F0811420-BDC0-4C1E-8C0C-A2D94667A4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121673-90B2-467E-B6A9-14B438EA6E9D}"/>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1090941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DC3040-6B05-40C5-BDA2-4736C9DEB5F8}"/>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3" name="Footer Placeholder 2">
            <a:extLst>
              <a:ext uri="{FF2B5EF4-FFF2-40B4-BE49-F238E27FC236}">
                <a16:creationId xmlns:a16="http://schemas.microsoft.com/office/drawing/2014/main" id="{7BD889E2-85EB-4329-B897-EE9C56D880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8AC55A-38F2-47AC-A642-67ECD52CDABF}"/>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4053424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D643D-C349-44B0-B025-473E63517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473F54-E6E2-4155-A174-CBD4F376BD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7A09B7-915C-4A7F-A5EC-DC10FD474D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AF631D-6E4E-4C30-A242-6A9A59B77F4F}"/>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6" name="Footer Placeholder 5">
            <a:extLst>
              <a:ext uri="{FF2B5EF4-FFF2-40B4-BE49-F238E27FC236}">
                <a16:creationId xmlns:a16="http://schemas.microsoft.com/office/drawing/2014/main" id="{B25A5A42-6FA9-4DC0-9769-8353D78FED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8F80B7-5C3C-4551-A4ED-69C464025273}"/>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1781305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C574D-79C0-41F2-863E-069B4D3083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9CDB38-5835-4642-AF16-C99D7E1323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833137-3ACE-442D-A92F-9982BFDD0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375767-9F21-442D-BEAD-1FEC9502E1BC}"/>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6" name="Footer Placeholder 5">
            <a:extLst>
              <a:ext uri="{FF2B5EF4-FFF2-40B4-BE49-F238E27FC236}">
                <a16:creationId xmlns:a16="http://schemas.microsoft.com/office/drawing/2014/main" id="{07286B78-E7F7-4B08-8BBF-081524756E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DEC540-7F5A-4541-A639-BF28368AFD5A}"/>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138262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D114-EC8A-4F5F-B3C2-C32C1F220D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E7F517-6217-4A46-AC07-FF6F246F01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43DF81-4B93-4AFF-85C6-3EC64F433D88}"/>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5" name="Footer Placeholder 4">
            <a:extLst>
              <a:ext uri="{FF2B5EF4-FFF2-40B4-BE49-F238E27FC236}">
                <a16:creationId xmlns:a16="http://schemas.microsoft.com/office/drawing/2014/main" id="{A614AABE-E8E9-494B-A069-6E8840E6E3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B6348-5252-4AF6-B452-FFCA89BB5BC8}"/>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287524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5BF2EA-1E1D-4835-AABA-B1F73AA7D1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2A6D60-D8EF-44C8-A425-64A30A5A28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653923-EDB6-4364-AD73-CA359D85BD54}"/>
              </a:ext>
            </a:extLst>
          </p:cNvPr>
          <p:cNvSpPr>
            <a:spLocks noGrp="1"/>
          </p:cNvSpPr>
          <p:nvPr>
            <p:ph type="dt" sz="half" idx="10"/>
          </p:nvPr>
        </p:nvSpPr>
        <p:spPr/>
        <p:txBody>
          <a:bodyPr/>
          <a:lstStyle/>
          <a:p>
            <a:fld id="{DE209BED-ED88-42C7-AD97-5701B254A703}" type="datetimeFigureOut">
              <a:rPr lang="en-US" smtClean="0"/>
              <a:t>05/13/2025</a:t>
            </a:fld>
            <a:endParaRPr lang="en-US"/>
          </a:p>
        </p:txBody>
      </p:sp>
      <p:sp>
        <p:nvSpPr>
          <p:cNvPr id="5" name="Footer Placeholder 4">
            <a:extLst>
              <a:ext uri="{FF2B5EF4-FFF2-40B4-BE49-F238E27FC236}">
                <a16:creationId xmlns:a16="http://schemas.microsoft.com/office/drawing/2014/main" id="{A509B915-B810-4938-9E17-1C8C039052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ED1482-BD0D-4627-85AD-6DB599AEFB3A}"/>
              </a:ext>
            </a:extLst>
          </p:cNvPr>
          <p:cNvSpPr>
            <a:spLocks noGrp="1"/>
          </p:cNvSpPr>
          <p:nvPr>
            <p:ph type="sldNum" sz="quarter" idx="12"/>
          </p:nvPr>
        </p:nvSpPr>
        <p:spPr/>
        <p:txBody>
          <a:bodyPr/>
          <a:lstStyle/>
          <a:p>
            <a:fld id="{CB048EDB-567B-4811-8417-899A91DF1185}" type="slidenum">
              <a:rPr lang="en-US" smtClean="0"/>
              <a:t>‹#›</a:t>
            </a:fld>
            <a:endParaRPr lang="en-US"/>
          </a:p>
        </p:txBody>
      </p:sp>
    </p:spTree>
    <p:extLst>
      <p:ext uri="{BB962C8B-B14F-4D97-AF65-F5344CB8AC3E}">
        <p14:creationId xmlns:p14="http://schemas.microsoft.com/office/powerpoint/2010/main" val="3527848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F7202E-059F-4F8E-BC7F-20B9D363DB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7363A8-101F-405F-8658-BD9BEE8813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F94678-9B44-4265-8F1A-15E26168CC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209BED-ED88-42C7-AD97-5701B254A703}" type="datetimeFigureOut">
              <a:rPr lang="en-US" smtClean="0"/>
              <a:t>05/13/2025</a:t>
            </a:fld>
            <a:endParaRPr lang="en-US"/>
          </a:p>
        </p:txBody>
      </p:sp>
      <p:sp>
        <p:nvSpPr>
          <p:cNvPr id="5" name="Footer Placeholder 4">
            <a:extLst>
              <a:ext uri="{FF2B5EF4-FFF2-40B4-BE49-F238E27FC236}">
                <a16:creationId xmlns:a16="http://schemas.microsoft.com/office/drawing/2014/main" id="{2C0BEB71-09BD-4BE5-B39D-578842472B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EA75C1-51F9-4BB9-8F15-76842B631A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048EDB-567B-4811-8417-899A91DF1185}" type="slidenum">
              <a:rPr lang="en-US" smtClean="0"/>
              <a:t>‹#›</a:t>
            </a:fld>
            <a:endParaRPr lang="en-US"/>
          </a:p>
        </p:txBody>
      </p:sp>
    </p:spTree>
    <p:extLst>
      <p:ext uri="{BB962C8B-B14F-4D97-AF65-F5344CB8AC3E}">
        <p14:creationId xmlns:p14="http://schemas.microsoft.com/office/powerpoint/2010/main" val="305146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1805-0016-4329-80F5-2EC5023FDC73}"/>
              </a:ext>
            </a:extLst>
          </p:cNvPr>
          <p:cNvSpPr>
            <a:spLocks noGrp="1"/>
          </p:cNvSpPr>
          <p:nvPr>
            <p:ph type="title"/>
          </p:nvPr>
        </p:nvSpPr>
        <p:spPr>
          <a:xfrm>
            <a:off x="1299701" y="16625"/>
            <a:ext cx="7441670" cy="649917"/>
          </a:xfrm>
        </p:spPr>
        <p:txBody>
          <a:bodyPr vert="horz" lIns="91440" tIns="45720" rIns="91440" bIns="45720" rtlCol="0" anchor="t">
            <a:normAutofit fontScale="90000"/>
          </a:bodyPr>
          <a:lstStyle/>
          <a:p>
            <a:r>
              <a:rPr lang="en-US" sz="4800" kern="1200" dirty="0">
                <a:solidFill>
                  <a:srgbClr val="FFFFFF"/>
                </a:solidFill>
                <a:latin typeface="+mj-lt"/>
                <a:ea typeface="+mj-ea"/>
                <a:cs typeface="+mj-cs"/>
              </a:rPr>
              <a:t>FUTURE</a:t>
            </a:r>
            <a:r>
              <a:rPr lang="en-US" sz="4800" dirty="0">
                <a:solidFill>
                  <a:srgbClr val="FFFFFF"/>
                </a:solidFill>
              </a:rPr>
              <a:t> </a:t>
            </a:r>
            <a:r>
              <a:rPr lang="en-US" sz="4800" kern="1200" dirty="0">
                <a:solidFill>
                  <a:srgbClr val="FFFFFF"/>
                </a:solidFill>
                <a:latin typeface="+mj-lt"/>
                <a:ea typeface="+mj-ea"/>
                <a:cs typeface="+mj-cs"/>
              </a:rPr>
              <a:t> EVENTS</a:t>
            </a:r>
            <a:endParaRPr lang="en-US" sz="4800" kern="1200" dirty="0"/>
          </a:p>
        </p:txBody>
      </p:sp>
      <p:sp>
        <p:nvSpPr>
          <p:cNvPr id="3" name="TextBox 2">
            <a:extLst>
              <a:ext uri="{FF2B5EF4-FFF2-40B4-BE49-F238E27FC236}">
                <a16:creationId xmlns:a16="http://schemas.microsoft.com/office/drawing/2014/main" id="{EC17E7AB-0961-418C-955F-D7770569F8D9}"/>
              </a:ext>
            </a:extLst>
          </p:cNvPr>
          <p:cNvSpPr txBox="1"/>
          <p:nvPr/>
        </p:nvSpPr>
        <p:spPr>
          <a:xfrm>
            <a:off x="1299701" y="666542"/>
            <a:ext cx="843280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err="1">
                <a:ln>
                  <a:noFill/>
                </a:ln>
                <a:solidFill>
                  <a:prstClr val="white"/>
                </a:solidFill>
                <a:effectLst/>
                <a:uLnTx/>
                <a:uFillTx/>
                <a:ea typeface="+mn-lt"/>
                <a:cs typeface="Calibri"/>
              </a:rPr>
              <a:t>F</a:t>
            </a:r>
            <a:r>
              <a:rPr kumimoji="0" lang="en-US" sz="2800" b="1" i="0" u="none" strike="noStrike" kern="1200" cap="none" spc="0" normalizeH="0" baseline="0" noProof="0" dirty="0" err="1">
                <a:ln>
                  <a:noFill/>
                </a:ln>
                <a:solidFill>
                  <a:prstClr val="black"/>
                </a:solidFill>
                <a:effectLst/>
                <a:uLnTx/>
                <a:uFillTx/>
                <a:ea typeface="+mn-ea"/>
                <a:cs typeface="+mn-cs"/>
              </a:rPr>
              <a:t>Future</a:t>
            </a:r>
            <a:r>
              <a:rPr lang="en-US" sz="2800" b="1" dirty="0">
                <a:solidFill>
                  <a:prstClr val="black"/>
                </a:solidFill>
              </a:rPr>
              <a:t> Events</a:t>
            </a:r>
            <a:endParaRPr kumimoji="0" lang="en-US" sz="2800" b="1" i="0" u="none" strike="noStrike" kern="1200" cap="none" spc="0" normalizeH="0" baseline="0" noProof="0" dirty="0">
              <a:ln>
                <a:noFill/>
              </a:ln>
              <a:solidFill>
                <a:prstClr val="black"/>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Calibri"/>
                <a:ea typeface="+mn-ea"/>
                <a:cs typeface="+mn-cs"/>
              </a:rPr>
              <a:t>  </a:t>
            </a:r>
            <a:r>
              <a:rPr kumimoji="0" lang="en-US" i="0" u="none" strike="noStrike" kern="1200" cap="none" spc="0" normalizeH="0" baseline="0" noProof="0" dirty="0">
                <a:ln>
                  <a:noFill/>
                </a:ln>
                <a:solidFill>
                  <a:prstClr val="black"/>
                </a:solidFill>
                <a:effectLst/>
                <a:uLnTx/>
                <a:uFillTx/>
                <a:latin typeface="Calibri"/>
                <a:ea typeface="+mn-ea"/>
                <a:cs typeface="+mn-cs"/>
              </a:rPr>
              <a:t>datasaturdays.com  or sqlsaturday.com  for a complete list of events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Calibri"/>
                <a:ea typeface="+mn-lt"/>
                <a:cs typeface="Calibri"/>
              </a:rPr>
              <a:t>urday</a:t>
            </a:r>
            <a:r>
              <a:rPr kumimoji="0" lang="en-US" sz="2000" b="0" i="0" u="none" strike="noStrike" kern="1200" cap="none" spc="0" normalizeH="0" baseline="0" noProof="0" dirty="0">
                <a:ln>
                  <a:noFill/>
                </a:ln>
                <a:solidFill>
                  <a:prstClr val="white"/>
                </a:solidFill>
                <a:effectLst/>
                <a:uLnTx/>
                <a:uFillTx/>
                <a:latin typeface="Calibri"/>
                <a:ea typeface="+mn-lt"/>
                <a:cs typeface="Calibri"/>
              </a:rPr>
              <a:t>.coFUTm/datasaturdays.com</a:t>
            </a:r>
          </a:p>
        </p:txBody>
      </p:sp>
      <p:graphicFrame>
        <p:nvGraphicFramePr>
          <p:cNvPr id="10" name="Content Placeholder 9">
            <a:extLst>
              <a:ext uri="{FF2B5EF4-FFF2-40B4-BE49-F238E27FC236}">
                <a16:creationId xmlns:a16="http://schemas.microsoft.com/office/drawing/2014/main" id="{43576716-D7B8-355B-C351-F917D4048138}"/>
              </a:ext>
            </a:extLst>
          </p:cNvPr>
          <p:cNvGraphicFramePr>
            <a:graphicFrameLocks noGrp="1"/>
          </p:cNvGraphicFramePr>
          <p:nvPr>
            <p:ph idx="1"/>
            <p:extLst>
              <p:ext uri="{D42A27DB-BD31-4B8C-83A1-F6EECF244321}">
                <p14:modId xmlns:p14="http://schemas.microsoft.com/office/powerpoint/2010/main" val="3826627499"/>
              </p:ext>
            </p:extLst>
          </p:nvPr>
        </p:nvGraphicFramePr>
        <p:xfrm>
          <a:off x="1518805" y="1711641"/>
          <a:ext cx="9154389" cy="3315816"/>
        </p:xfrm>
        <a:graphic>
          <a:graphicData uri="http://schemas.openxmlformats.org/drawingml/2006/table">
            <a:tbl>
              <a:tblPr/>
              <a:tblGrid>
                <a:gridCol w="1387352">
                  <a:extLst>
                    <a:ext uri="{9D8B030D-6E8A-4147-A177-3AD203B41FA5}">
                      <a16:colId xmlns:a16="http://schemas.microsoft.com/office/drawing/2014/main" val="2260174209"/>
                    </a:ext>
                  </a:extLst>
                </a:gridCol>
                <a:gridCol w="7767037">
                  <a:extLst>
                    <a:ext uri="{9D8B030D-6E8A-4147-A177-3AD203B41FA5}">
                      <a16:colId xmlns:a16="http://schemas.microsoft.com/office/drawing/2014/main" val="2285271709"/>
                    </a:ext>
                  </a:extLst>
                </a:gridCol>
              </a:tblGrid>
              <a:tr h="441624">
                <a:tc>
                  <a:txBody>
                    <a:bodyPr/>
                    <a:lstStyle/>
                    <a:p>
                      <a:pPr algn="l" rtl="0" fontAlgn="base"/>
                      <a:r>
                        <a:rPr lang="en-US" sz="1400" b="0" i="0" u="none" strike="noStrike" dirty="0">
                          <a:solidFill>
                            <a:srgbClr val="000000"/>
                          </a:solidFill>
                          <a:effectLst/>
                          <a:latin typeface="Calibri"/>
                        </a:rPr>
                        <a:t>Date</a:t>
                      </a:r>
                      <a:r>
                        <a:rPr lang="en-US" sz="1400" b="1" i="0" dirty="0">
                          <a:solidFill>
                            <a:srgbClr val="FFFFFF"/>
                          </a:solidFill>
                          <a:effectLst/>
                          <a:latin typeface="Calibri"/>
                        </a:rPr>
                        <a:t>​</a:t>
                      </a:r>
                      <a:endParaRPr lang="en-US" sz="1600" b="1" i="0" dirty="0">
                        <a:solidFill>
                          <a:srgbClr val="FFFFFF"/>
                        </a:solidFill>
                        <a:effectLst/>
                        <a:latin typeface="Calibri"/>
                      </a:endParaRPr>
                    </a:p>
                  </a:txBody>
                  <a:tcPr marL="82288" marR="82288" marT="41144" marB="41144"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4472C4"/>
                    </a:solidFill>
                  </a:tcPr>
                </a:tc>
                <a:tc>
                  <a:txBody>
                    <a:bodyPr/>
                    <a:lstStyle/>
                    <a:p>
                      <a:pPr algn="ctr" rtl="0" fontAlgn="base"/>
                      <a:r>
                        <a:rPr lang="en-US" sz="1400" b="0" i="0" u="none" strike="noStrike" dirty="0">
                          <a:solidFill>
                            <a:srgbClr val="000000"/>
                          </a:solidFill>
                          <a:effectLst/>
                          <a:latin typeface="Calibri"/>
                        </a:rPr>
                        <a:t>Event</a:t>
                      </a:r>
                      <a:r>
                        <a:rPr lang="en-US" sz="1400" b="1" i="0" dirty="0">
                          <a:solidFill>
                            <a:srgbClr val="FFFFFF"/>
                          </a:solidFill>
                          <a:effectLst/>
                          <a:latin typeface="Calibri"/>
                        </a:rPr>
                        <a:t>​</a:t>
                      </a:r>
                      <a:endParaRPr lang="en-US" sz="1600" b="1" i="0" dirty="0">
                        <a:solidFill>
                          <a:srgbClr val="FFFFFF"/>
                        </a:solidFill>
                        <a:effectLst/>
                        <a:latin typeface="Calibri"/>
                      </a:endParaRP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503401433"/>
                  </a:ext>
                </a:extLst>
              </a:tr>
              <a:tr h="0">
                <a:tc>
                  <a:txBody>
                    <a:bodyPr/>
                    <a:lstStyle/>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05/17/2025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SQL Saturday Raleigh 2025 (#1111)</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3531768053"/>
                  </a:ext>
                </a:extLst>
              </a:tr>
              <a:tr h="0">
                <a:tc>
                  <a:txBody>
                    <a:bodyPr/>
                    <a:lstStyle/>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05/23/2025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SQL Saturday Salt Lack City 2025 (#1111)</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4019606345"/>
                  </a:ext>
                </a:extLst>
              </a:tr>
              <a:tr h="0">
                <a:tc>
                  <a:txBody>
                    <a:bodyPr/>
                    <a:lstStyle/>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06/28/2025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SQL Saturday San Diego 2025 (#1113)</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2947464784"/>
                  </a:ext>
                </a:extLst>
              </a:tr>
              <a:tr h="0">
                <a:tc>
                  <a:txBody>
                    <a:bodyPr/>
                    <a:lstStyle/>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07/19/2025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SQL Saturday South Florida 2025 (#1116)</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3638754350"/>
                  </a:ext>
                </a:extLst>
              </a:tr>
              <a:tr h="0">
                <a:tc>
                  <a:txBody>
                    <a:bodyPr/>
                    <a:lstStyle/>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07/26/2025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SQL Saturday Baton Rouge 2025 (#1110)</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3602620235"/>
                  </a:ext>
                </a:extLst>
              </a:tr>
              <a:tr h="0">
                <a:tc>
                  <a:txBody>
                    <a:bodyPr/>
                    <a:lstStyle/>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09/27/2025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SQL Saturday Boston 2025 (#1119)</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654947069"/>
                  </a:ext>
                </a:extLst>
              </a:tr>
              <a:tr h="0">
                <a:tc>
                  <a:txBody>
                    <a:bodyPr/>
                    <a:lstStyle/>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10/25/2025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SQL Saturday St. Louis (#1117)</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480345519"/>
                  </a:ext>
                </a:extLst>
              </a:tr>
              <a:tr h="0">
                <a:tc>
                  <a:txBody>
                    <a:bodyPr/>
                    <a:lstStyle/>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11/08/2025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SQL Saturday Houston 2025 (#1120)</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274882599"/>
                  </a:ext>
                </a:extLst>
              </a:tr>
              <a:tr h="0">
                <a:tc>
                  <a:txBody>
                    <a:bodyPr/>
                    <a:lstStyle/>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11/17/2025-</a:t>
                      </a:r>
                    </a:p>
                    <a:p>
                      <a:pPr marL="0" lvl="0" algn="l" defTabSz="914400" rtl="0" eaLnBrk="1" fontAlgn="base" latinLnBrk="0" hangingPunct="1">
                        <a:buNone/>
                      </a:pPr>
                      <a:r>
                        <a:rPr lang="en-US" sz="1400" b="0" i="0" u="none" strike="noStrike" kern="1200" dirty="0">
                          <a:solidFill>
                            <a:srgbClr val="000000"/>
                          </a:solidFill>
                          <a:effectLst/>
                          <a:latin typeface="Calibri"/>
                          <a:ea typeface="+mn-ea"/>
                          <a:cs typeface="+mn-cs"/>
                        </a:rPr>
                        <a:t>11/21/2025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PASS Data Community Summit 2025</a:t>
                      </a:r>
                    </a:p>
                  </a:txBody>
                  <a:tcPr marL="82288" marR="82288" marT="41144" marB="41144">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3450960720"/>
                  </a:ext>
                </a:extLst>
              </a:tr>
            </a:tbl>
          </a:graphicData>
        </a:graphic>
      </p:graphicFrame>
    </p:spTree>
    <p:extLst>
      <p:ext uri="{BB962C8B-B14F-4D97-AF65-F5344CB8AC3E}">
        <p14:creationId xmlns:p14="http://schemas.microsoft.com/office/powerpoint/2010/main" val="2652846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49FCC-F21E-2CA1-8099-7C0D375E8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79CD7-0CDE-CDF6-FAA3-9608302A14F8}"/>
              </a:ext>
            </a:extLst>
          </p:cNvPr>
          <p:cNvSpPr>
            <a:spLocks noGrp="1"/>
          </p:cNvSpPr>
          <p:nvPr>
            <p:ph type="title"/>
          </p:nvPr>
        </p:nvSpPr>
        <p:spPr>
          <a:xfrm>
            <a:off x="239697" y="376518"/>
            <a:ext cx="11585359" cy="6290611"/>
          </a:xfrm>
        </p:spPr>
        <p:txBody>
          <a:bodyPr>
            <a:normAutofit fontScale="90000"/>
          </a:bodyPr>
          <a:lstStyle/>
          <a:p>
            <a:pPr algn="ctr">
              <a:lnSpc>
                <a:spcPct val="100000"/>
              </a:lnSpc>
            </a:pPr>
            <a:r>
              <a:rPr lang="en-US" sz="3600" dirty="0">
                <a:latin typeface="+mn-lt"/>
              </a:rPr>
              <a:t>Upcoming</a:t>
            </a:r>
            <a:br>
              <a:rPr lang="en-US" sz="3600" dirty="0">
                <a:latin typeface="+mn-lt"/>
              </a:rPr>
            </a:br>
            <a:r>
              <a:rPr lang="en-US" sz="3600" dirty="0">
                <a:latin typeface="+mn-lt"/>
              </a:rPr>
              <a:t>St. Louis SQL Server and St. Louis Business Intelligence User Group Meeting</a:t>
            </a:r>
            <a:br>
              <a:rPr lang="en-US" sz="3600" dirty="0">
                <a:latin typeface="+mn-lt"/>
              </a:rPr>
            </a:br>
            <a:br>
              <a:rPr lang="en-US" sz="2200" i="1" dirty="0">
                <a:latin typeface="+mn-lt"/>
              </a:rPr>
            </a:br>
            <a:r>
              <a:rPr lang="en-US" sz="4000" b="1" dirty="0">
                <a:latin typeface="+mn-lt"/>
              </a:rPr>
              <a:t>Pannel Discussion: Data Engineer, Data Scientist, DBA, BI Engineer and Other Positions  - Breaking into the Data Layer</a:t>
            </a:r>
            <a:br>
              <a:rPr lang="en-US" sz="4000" b="1" dirty="0">
                <a:latin typeface="+mn-lt"/>
              </a:rPr>
            </a:br>
            <a:r>
              <a:rPr lang="en-US" sz="4000" dirty="0">
                <a:latin typeface="+mn-lt"/>
              </a:rPr>
              <a:t>Speakers: Pamela Moone, Sharon Reid, Clayton Groom,</a:t>
            </a:r>
            <a:br>
              <a:rPr lang="en-US" sz="4000" dirty="0">
                <a:latin typeface="+mn-lt"/>
              </a:rPr>
            </a:br>
            <a:r>
              <a:rPr lang="en-US" sz="4000" dirty="0">
                <a:latin typeface="+mn-lt"/>
              </a:rPr>
              <a:t> Murali Subramanian</a:t>
            </a:r>
            <a:br>
              <a:rPr lang="en-US" sz="4000" dirty="0">
                <a:latin typeface="+mn-lt"/>
              </a:rPr>
            </a:br>
            <a:r>
              <a:rPr lang="en-US" sz="3600" dirty="0">
                <a:latin typeface="+mn-lt"/>
              </a:rPr>
              <a:t>In-person Meeting</a:t>
            </a:r>
            <a:br>
              <a:rPr lang="en-US" sz="3600" dirty="0">
                <a:latin typeface="+mn-lt"/>
              </a:rPr>
            </a:br>
            <a:br>
              <a:rPr lang="en-US" sz="1800" dirty="0">
                <a:latin typeface="+mn-lt"/>
              </a:rPr>
            </a:br>
            <a:r>
              <a:rPr lang="en-US" sz="2800" dirty="0">
                <a:latin typeface="+mn-lt"/>
              </a:rPr>
              <a:t>Tuesday June 10</a:t>
            </a:r>
            <a:r>
              <a:rPr lang="en-US" sz="2800" baseline="30000" dirty="0">
                <a:latin typeface="+mn-lt"/>
              </a:rPr>
              <a:t>th</a:t>
            </a:r>
            <a:r>
              <a:rPr lang="en-US" sz="2800" dirty="0">
                <a:latin typeface="+mn-lt"/>
              </a:rPr>
              <a:t> , 2025  12:00 PM – 1:30 PM CDT</a:t>
            </a:r>
            <a:br>
              <a:rPr lang="en-US" sz="2800" dirty="0">
                <a:latin typeface="+mn-lt"/>
              </a:rPr>
            </a:br>
            <a:br>
              <a:rPr lang="en-US" sz="2800" dirty="0">
                <a:latin typeface="+mn-lt"/>
              </a:rPr>
            </a:br>
            <a:r>
              <a:rPr lang="en-US" sz="2800" dirty="0">
                <a:latin typeface="+mn-lt"/>
              </a:rPr>
              <a:t>Sponsor: CGI</a:t>
            </a:r>
          </a:p>
        </p:txBody>
      </p:sp>
    </p:spTree>
    <p:extLst>
      <p:ext uri="{BB962C8B-B14F-4D97-AF65-F5344CB8AC3E}">
        <p14:creationId xmlns:p14="http://schemas.microsoft.com/office/powerpoint/2010/main" val="117433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4D5B1-ED06-F460-D307-A03AEEBE5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282A4-A942-B1C1-B3CF-274F7BF5FBF2}"/>
              </a:ext>
            </a:extLst>
          </p:cNvPr>
          <p:cNvSpPr>
            <a:spLocks noGrp="1"/>
          </p:cNvSpPr>
          <p:nvPr>
            <p:ph type="title"/>
          </p:nvPr>
        </p:nvSpPr>
        <p:spPr>
          <a:xfrm>
            <a:off x="239697" y="376518"/>
            <a:ext cx="11585359" cy="6290611"/>
          </a:xfrm>
        </p:spPr>
        <p:txBody>
          <a:bodyPr>
            <a:normAutofit/>
          </a:bodyPr>
          <a:lstStyle/>
          <a:p>
            <a:pPr algn="ctr">
              <a:lnSpc>
                <a:spcPct val="100000"/>
              </a:lnSpc>
            </a:pPr>
            <a:r>
              <a:rPr lang="en-US" sz="3600" dirty="0">
                <a:latin typeface="+mn-lt"/>
              </a:rPr>
              <a:t>St. Louis SQL Server and St. Louis Business Intelligence User Group Meeting</a:t>
            </a:r>
            <a:br>
              <a:rPr lang="en-US" sz="3600" dirty="0">
                <a:latin typeface="+mn-lt"/>
              </a:rPr>
            </a:br>
            <a:br>
              <a:rPr lang="en-US" sz="2200" i="1" dirty="0">
                <a:latin typeface="+mn-lt"/>
              </a:rPr>
            </a:br>
            <a:r>
              <a:rPr lang="en-US" sz="4000" b="1" dirty="0">
                <a:latin typeface="+mn-lt"/>
              </a:rPr>
              <a:t>Easy Scripting to Automate and Govern your Fabric Tenant</a:t>
            </a:r>
            <a:br>
              <a:rPr lang="en-US" sz="4000" b="1" dirty="0">
                <a:latin typeface="+mn-lt"/>
              </a:rPr>
            </a:br>
            <a:r>
              <a:rPr lang="en-US" sz="4000" dirty="0">
                <a:latin typeface="+mn-lt"/>
              </a:rPr>
              <a:t>Speaker: Gary Bell &amp; Gary Polinsky</a:t>
            </a:r>
            <a:br>
              <a:rPr lang="en-US" sz="4000" dirty="0">
                <a:latin typeface="+mn-lt"/>
              </a:rPr>
            </a:br>
            <a:r>
              <a:rPr lang="en-US" sz="3600" dirty="0">
                <a:latin typeface="+mn-lt"/>
              </a:rPr>
              <a:t>In-person Meeting</a:t>
            </a:r>
            <a:br>
              <a:rPr lang="en-US" sz="3600" dirty="0">
                <a:latin typeface="+mn-lt"/>
              </a:rPr>
            </a:br>
            <a:br>
              <a:rPr lang="en-US" sz="1800" dirty="0">
                <a:latin typeface="+mn-lt"/>
              </a:rPr>
            </a:br>
            <a:r>
              <a:rPr lang="en-US" sz="2800" dirty="0">
                <a:latin typeface="+mn-lt"/>
              </a:rPr>
              <a:t>Tuesday May 13, 2025  12:00 PM – 1:30 PM CDT</a:t>
            </a:r>
            <a:br>
              <a:rPr lang="en-US" sz="2800" dirty="0">
                <a:latin typeface="+mn-lt"/>
              </a:rPr>
            </a:br>
            <a:br>
              <a:rPr lang="en-US" sz="2800" dirty="0">
                <a:latin typeface="+mn-lt"/>
              </a:rPr>
            </a:br>
            <a:r>
              <a:rPr lang="en-US" sz="2800" dirty="0">
                <a:latin typeface="+mn-lt"/>
              </a:rPr>
              <a:t>Sponsor Speaker and Lunch: Covenant Technology Partners</a:t>
            </a:r>
            <a:br>
              <a:rPr lang="en-US" sz="2800" dirty="0">
                <a:latin typeface="+mn-lt"/>
              </a:rPr>
            </a:br>
            <a:r>
              <a:rPr lang="en-US" sz="2800" dirty="0">
                <a:latin typeface="+mn-lt"/>
              </a:rPr>
              <a:t>Room Sponsor: CGI</a:t>
            </a:r>
          </a:p>
        </p:txBody>
      </p:sp>
    </p:spTree>
    <p:extLst>
      <p:ext uri="{BB962C8B-B14F-4D97-AF65-F5344CB8AC3E}">
        <p14:creationId xmlns:p14="http://schemas.microsoft.com/office/powerpoint/2010/main" val="254432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B032C-0B8A-4E7C-BD83-03FC39F1EDF2}"/>
              </a:ext>
            </a:extLst>
          </p:cNvPr>
          <p:cNvSpPr>
            <a:spLocks noGrp="1"/>
          </p:cNvSpPr>
          <p:nvPr>
            <p:ph type="title"/>
          </p:nvPr>
        </p:nvSpPr>
        <p:spPr>
          <a:xfrm>
            <a:off x="838200" y="365125"/>
            <a:ext cx="10515600" cy="925793"/>
          </a:xfrm>
        </p:spPr>
        <p:txBody>
          <a:bodyPr/>
          <a:lstStyle/>
          <a:p>
            <a:pPr algn="ctr"/>
            <a:r>
              <a:rPr lang="en-US" dirty="0"/>
              <a:t>About Today’s Presentation</a:t>
            </a:r>
          </a:p>
        </p:txBody>
      </p:sp>
      <p:sp>
        <p:nvSpPr>
          <p:cNvPr id="3" name="Content Placeholder 2">
            <a:extLst>
              <a:ext uri="{FF2B5EF4-FFF2-40B4-BE49-F238E27FC236}">
                <a16:creationId xmlns:a16="http://schemas.microsoft.com/office/drawing/2014/main" id="{05B3312E-96B9-41B3-95C9-2EC28ADA5F18}"/>
              </a:ext>
            </a:extLst>
          </p:cNvPr>
          <p:cNvSpPr>
            <a:spLocks noGrp="1"/>
          </p:cNvSpPr>
          <p:nvPr>
            <p:ph idx="1"/>
          </p:nvPr>
        </p:nvSpPr>
        <p:spPr>
          <a:xfrm>
            <a:off x="439271" y="1290918"/>
            <a:ext cx="11456893" cy="5307106"/>
          </a:xfrm>
        </p:spPr>
        <p:txBody>
          <a:bodyPr>
            <a:noAutofit/>
          </a:bodyPr>
          <a:lstStyle/>
          <a:p>
            <a:pPr marL="0" indent="0" algn="l">
              <a:buNone/>
            </a:pPr>
            <a:endParaRPr lang="en-US" sz="1800" b="1" dirty="0">
              <a:solidFill>
                <a:srgbClr val="000000"/>
              </a:solidFill>
              <a:latin typeface="Arial" panose="020B0604020202020204" pitchFamily="34" charset="0"/>
              <a:cs typeface="Arial" panose="020B0604020202020204" pitchFamily="34" charset="0"/>
            </a:endParaRPr>
          </a:p>
          <a:p>
            <a:pPr algn="l">
              <a:buNone/>
            </a:pPr>
            <a:r>
              <a:rPr lang="en-US" sz="1800" b="1" i="0" dirty="0">
                <a:solidFill>
                  <a:srgbClr val="000000"/>
                </a:solidFill>
                <a:effectLst/>
                <a:latin typeface="Arial" panose="020B0604020202020204" pitchFamily="34" charset="0"/>
                <a:cs typeface="Arial" panose="020B0604020202020204" pitchFamily="34" charset="0"/>
              </a:rPr>
              <a:t>Topic:</a:t>
            </a:r>
            <a:r>
              <a:rPr lang="en-US" sz="1800" b="0" i="0" dirty="0">
                <a:solidFill>
                  <a:srgbClr val="000000"/>
                </a:solidFill>
                <a:effectLst/>
                <a:latin typeface="Arial" panose="020B0604020202020204" pitchFamily="34" charset="0"/>
                <a:cs typeface="Arial" panose="020B0604020202020204" pitchFamily="34" charset="0"/>
              </a:rPr>
              <a:t> </a:t>
            </a:r>
            <a:r>
              <a:rPr lang="en-US" sz="1800" b="1" i="0" dirty="0">
                <a:solidFill>
                  <a:srgbClr val="000000"/>
                </a:solidFill>
                <a:effectLst/>
                <a:latin typeface="Arial" panose="020B0604020202020204" pitchFamily="34" charset="0"/>
                <a:cs typeface="Arial" panose="020B0604020202020204" pitchFamily="34" charset="0"/>
              </a:rPr>
              <a:t>Easy scripting to automate and govern your Fabric tenant</a:t>
            </a:r>
            <a:br>
              <a:rPr lang="en-US" sz="1800" b="0" i="0" dirty="0">
                <a:solidFill>
                  <a:srgbClr val="000000"/>
                </a:solidFill>
                <a:effectLst/>
                <a:latin typeface="Arial" panose="020B0604020202020204" pitchFamily="34" charset="0"/>
                <a:cs typeface="Arial" panose="020B0604020202020204" pitchFamily="34" charset="0"/>
              </a:rPr>
            </a:br>
            <a:r>
              <a:rPr lang="en-US" sz="1800" b="0" i="0" dirty="0">
                <a:solidFill>
                  <a:srgbClr val="000000"/>
                </a:solidFill>
                <a:effectLst/>
                <a:latin typeface="Arial" panose="020B0604020202020204" pitchFamily="34" charset="0"/>
                <a:cs typeface="Arial" panose="020B0604020202020204" pitchFamily="34" charset="0"/>
              </a:rPr>
              <a:t>In this session, we will demonstrate how to use Semantic Links and Semantic Link Labs to build, manage, use, and audit items in Fabric from a Python notebook. These tools provide wrapper functions that simplify access to Power BI and Fabric APIs.</a:t>
            </a:r>
          </a:p>
          <a:p>
            <a:pPr marL="0" indent="0" algn="l">
              <a:buNone/>
            </a:pPr>
            <a:endParaRPr lang="en-US" sz="1800" b="1" i="0" dirty="0">
              <a:solidFill>
                <a:srgbClr val="000000"/>
              </a:solidFill>
              <a:effectLst/>
              <a:latin typeface="Arial" panose="020B0604020202020204" pitchFamily="34" charset="0"/>
              <a:cs typeface="Arial" panose="020B0604020202020204" pitchFamily="34" charset="0"/>
            </a:endParaRPr>
          </a:p>
          <a:p>
            <a:pPr marL="0" indent="0" algn="l">
              <a:buNone/>
            </a:pPr>
            <a:r>
              <a:rPr lang="en-US" sz="1800" b="1" i="0" dirty="0">
                <a:solidFill>
                  <a:srgbClr val="000000"/>
                </a:solidFill>
                <a:effectLst/>
                <a:latin typeface="Arial" panose="020B0604020202020204" pitchFamily="34" charset="0"/>
                <a:cs typeface="Arial" panose="020B0604020202020204" pitchFamily="34" charset="0"/>
              </a:rPr>
              <a:t>Speakers: Gary Bell &amp; Gary Polinsky</a:t>
            </a:r>
            <a:br>
              <a:rPr lang="en-US" sz="1800" b="0" i="0" dirty="0">
                <a:solidFill>
                  <a:srgbClr val="000000"/>
                </a:solidFill>
                <a:effectLst/>
                <a:latin typeface="Arial" panose="020B0604020202020204" pitchFamily="34" charset="0"/>
                <a:cs typeface="Arial" panose="020B0604020202020204" pitchFamily="34" charset="0"/>
              </a:rPr>
            </a:br>
            <a:r>
              <a:rPr lang="en-US" sz="1800" b="1" i="0" dirty="0">
                <a:solidFill>
                  <a:srgbClr val="000000"/>
                </a:solidFill>
                <a:effectLst/>
                <a:latin typeface="Arial" panose="020B0604020202020204" pitchFamily="34" charset="0"/>
                <a:cs typeface="Arial" panose="020B0604020202020204" pitchFamily="34" charset="0"/>
              </a:rPr>
              <a:t>Gary Bell </a:t>
            </a:r>
            <a:r>
              <a:rPr lang="en-US" sz="1800" b="0" i="0" dirty="0">
                <a:solidFill>
                  <a:srgbClr val="000000"/>
                </a:solidFill>
                <a:effectLst/>
                <a:latin typeface="Arial" panose="020B0604020202020204" pitchFamily="34" charset="0"/>
                <a:cs typeface="Arial" panose="020B0604020202020204" pitchFamily="34" charset="0"/>
              </a:rPr>
              <a:t>is a Data Analytics Architect at Covenant Technology Partners with an extensive background in transforming raw data into actionable insights. Gary has 20+ years of experience working with Microsoft data technologies including SQL Server, Azure, and Power BI. As an expert in data warehousing and data engineering, Gary has helped design and deliver full-stack reporting and data integration solutions for numerous clients across a variety of industries.</a:t>
            </a:r>
          </a:p>
          <a:p>
            <a:pPr marL="0" indent="0" algn="l">
              <a:buNone/>
            </a:pPr>
            <a:endParaRPr lang="en-US" sz="1800" dirty="0">
              <a:solidFill>
                <a:srgbClr val="000000"/>
              </a:solidFill>
              <a:latin typeface="Arial" panose="020B0604020202020204" pitchFamily="34" charset="0"/>
              <a:cs typeface="Arial" panose="020B0604020202020204" pitchFamily="34" charset="0"/>
            </a:endParaRPr>
          </a:p>
          <a:p>
            <a:pPr marL="0" indent="0">
              <a:buNone/>
            </a:pPr>
            <a:r>
              <a:rPr lang="en-US" sz="1800" b="1" dirty="0">
                <a:effectLst/>
                <a:latin typeface="Aptos" panose="020B0004020202020204" pitchFamily="34" charset="0"/>
                <a:ea typeface="Times New Roman" panose="02020603050405020304" pitchFamily="18" charset="0"/>
                <a:cs typeface="Aptos" panose="020B0004020202020204" pitchFamily="34" charset="0"/>
              </a:rPr>
              <a:t>Gary Polinsky </a:t>
            </a:r>
            <a:r>
              <a:rPr lang="en-US" sz="1800" dirty="0">
                <a:effectLst/>
                <a:latin typeface="Aptos" panose="020B0004020202020204" pitchFamily="34" charset="0"/>
                <a:ea typeface="Times New Roman" panose="02020603050405020304" pitchFamily="18" charset="0"/>
                <a:cs typeface="Aptos" panose="020B0004020202020204" pitchFamily="34" charset="0"/>
              </a:rPr>
              <a:t>serves as a Data Analytics Consultant at Covenant Technology Partners, specializing in delivering analytics solutions. With over a decade of experience, Gary is proficient in Microsoft data technologies such as Power BI and Fabric. He has crafted reporting solutions for a diverse range of clients.</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marL="0" indent="0" algn="l">
              <a:buNone/>
            </a:pPr>
            <a:endParaRPr lang="en-US" sz="1800" b="0" i="0" dirty="0">
              <a:solidFill>
                <a:srgbClr val="000000"/>
              </a:solidFill>
              <a:effectLst/>
              <a:latin typeface="Arial" panose="020B0604020202020204" pitchFamily="34" charset="0"/>
              <a:cs typeface="Arial" panose="020B0604020202020204" pitchFamily="34" charset="0"/>
            </a:endParaRPr>
          </a:p>
          <a:p>
            <a:pPr marL="0" indent="0">
              <a:buNone/>
            </a:pPr>
            <a:endParaRPr lang="en-US" sz="1800" b="1" i="0"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0431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f3540b9-8900-4f17-8aea-4930312ae22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CE1130F8870374184A06F6BF683DCEB" ma:contentTypeVersion="16" ma:contentTypeDescription="Create a new document." ma:contentTypeScope="" ma:versionID="727e14d88c08f189565cb77ea7f58853">
  <xsd:schema xmlns:xsd="http://www.w3.org/2001/XMLSchema" xmlns:xs="http://www.w3.org/2001/XMLSchema" xmlns:p="http://schemas.microsoft.com/office/2006/metadata/properties" xmlns:ns3="fa7b5bcb-e5c9-445e-ad25-4ac9ed1d0114" xmlns:ns4="3f3540b9-8900-4f17-8aea-4930312ae223" targetNamespace="http://schemas.microsoft.com/office/2006/metadata/properties" ma:root="true" ma:fieldsID="6d40131a184741aba1318b92b5d840e4" ns3:_="" ns4:_="">
    <xsd:import namespace="fa7b5bcb-e5c9-445e-ad25-4ac9ed1d0114"/>
    <xsd:import namespace="3f3540b9-8900-4f17-8aea-4930312ae22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_activity" minOccurs="0"/>
                <xsd:element ref="ns4:MediaServiceObjectDetectorVersions" minOccurs="0"/>
                <xsd:element ref="ns4:MediaServiceGenerationTime" minOccurs="0"/>
                <xsd:element ref="ns4:MediaServiceEventHashCode" minOccurs="0"/>
                <xsd:element ref="ns4:MediaServiceOCR" minOccurs="0"/>
                <xsd:element ref="ns4:MediaServiceSystemTags" minOccurs="0"/>
                <xsd:element ref="ns4:MediaServiceSearchPropertie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7b5bcb-e5c9-445e-ad25-4ac9ed1d011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3540b9-8900-4f17-8aea-4930312ae22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descrip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5C4312-FCCA-43C4-B0FC-4059087D8BE4}">
  <ds:schemaRefs>
    <ds:schemaRef ds:uri="http://schemas.microsoft.com/sharepoint/v3/contenttype/forms"/>
  </ds:schemaRefs>
</ds:datastoreItem>
</file>

<file path=customXml/itemProps2.xml><?xml version="1.0" encoding="utf-8"?>
<ds:datastoreItem xmlns:ds="http://schemas.openxmlformats.org/officeDocument/2006/customXml" ds:itemID="{9C2F16F3-43B9-4464-853E-F5FD552594D6}">
  <ds:schemaRefs>
    <ds:schemaRef ds:uri="http://purl.org/dc/elements/1.1/"/>
    <ds:schemaRef ds:uri="http://purl.org/dc/terms/"/>
    <ds:schemaRef ds:uri="http://schemas.microsoft.com/office/2006/metadata/propertie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3f3540b9-8900-4f17-8aea-4930312ae223"/>
    <ds:schemaRef ds:uri="fa7b5bcb-e5c9-445e-ad25-4ac9ed1d0114"/>
    <ds:schemaRef ds:uri="http://www.w3.org/XML/1998/namespace"/>
  </ds:schemaRefs>
</ds:datastoreItem>
</file>

<file path=customXml/itemProps3.xml><?xml version="1.0" encoding="utf-8"?>
<ds:datastoreItem xmlns:ds="http://schemas.openxmlformats.org/officeDocument/2006/customXml" ds:itemID="{9D82A715-A963-4C10-8784-C228D8A2D1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7b5bcb-e5c9-445e-ad25-4ac9ed1d0114"/>
    <ds:schemaRef ds:uri="3f3540b9-8900-4f17-8aea-4930312ae2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1777</TotalTime>
  <Words>463</Words>
  <Application>Microsoft Office PowerPoint</Application>
  <PresentationFormat>Widescreen</PresentationFormat>
  <Paragraphs>39</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Arial</vt:lpstr>
      <vt:lpstr>Calibri</vt:lpstr>
      <vt:lpstr>Calibri Light</vt:lpstr>
      <vt:lpstr>Office Theme</vt:lpstr>
      <vt:lpstr>FUTURE  EVENTS</vt:lpstr>
      <vt:lpstr>Upcoming St. Louis SQL Server and St. Louis Business Intelligence User Group Meeting  Pannel Discussion: Data Engineer, Data Scientist, DBA, BI Engineer and Other Positions  - Breaking into the Data Layer Speakers: Pamela Moone, Sharon Reid, Clayton Groom,  Murali Subramanian In-person Meeting  Tuesday June 10th , 2025  12:00 PM – 1:30 PM CDT  Sponsor: CGI</vt:lpstr>
      <vt:lpstr>St. Louis SQL Server and St. Louis Business Intelligence User Group Meeting  Easy Scripting to Automate and Govern your Fabric Tenant Speaker: Gary Bell &amp; Gary Polinsky In-person Meeting  Tuesday May 13, 2025  12:00 PM – 1:30 PM CDT  Sponsor Speaker and Lunch: Covenant Technology Partners Room Sponsor: CGI</vt:lpstr>
      <vt:lpstr>About Today’s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 Louis SQL Server and Business Intelligence User Groups</dc:title>
  <dc:creator>Gary Polinsky</dc:creator>
  <cp:lastModifiedBy>Subramanian, Murali</cp:lastModifiedBy>
  <cp:revision>90</cp:revision>
  <dcterms:created xsi:type="dcterms:W3CDTF">2021-02-06T15:54:44Z</dcterms:created>
  <dcterms:modified xsi:type="dcterms:W3CDTF">2025-05-13T14:19:49Z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0x0101001CE1130F8870374184A06F6BF683DCEB</vt:lpwstr>
  </property>
</Properties>
</file>